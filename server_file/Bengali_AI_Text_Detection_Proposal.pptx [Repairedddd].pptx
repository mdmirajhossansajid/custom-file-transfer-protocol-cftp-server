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9" autoAdjust="0"/>
    <p:restoredTop sz="94610"/>
  </p:normalViewPr>
  <p:slideViewPr>
    <p:cSldViewPr snapToGrid="0" snapToObjects="1">
      <p:cViewPr>
        <p:scale>
          <a:sx n="67" d="100"/>
          <a:sy n="67" d="100"/>
        </p:scale>
        <p:origin x="77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426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A365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A365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  •  OPTION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000"/>
              </a:lnSpc>
            </a:pPr>
            <a:r>
              <a:rPr lang="en-US" sz="3200" b="1" dirty="0">
                <a:solidFill>
                  <a:schemeClr val="bg1"/>
                </a:solidFill>
              </a:rPr>
              <a:t>An Explainable Transformer-based Framework for Detecting AI-Generated Bengali Text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Human-written or Machine-written? Making the answer explainable.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2011680" cy="0"/>
          </a:xfrm>
          <a:prstGeom prst="line">
            <a:avLst/>
          </a:prstGeom>
          <a:noFill/>
          <a:ln w="25400">
            <a:solidFill>
              <a:srgbClr val="C99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572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Miraj Hossan Sajid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CSE, Southeast University  •  Supervisor: </a:t>
            </a:r>
            <a:r>
              <a:rPr lang="en-US" sz="1400" dirty="0" err="1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Radiatun</a:t>
            </a:r>
            <a:r>
              <a:rPr lang="en-US" sz="14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Tasnia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Will Work 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Five-stage plan from problem framing to submission-ready paper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4F6FB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0784"/>
            <a:ext cx="548640" cy="548640"/>
          </a:xfrm>
          <a:prstGeom prst="ellipse">
            <a:avLst/>
          </a:prstGeom>
          <a:solidFill>
            <a:srgbClr val="1B243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288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819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Scoping &amp; Literature Gap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196596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Bengali AI-text detection gap vs. existing English-centric detectors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6946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4F6FB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761488"/>
            <a:ext cx="548640" cy="548640"/>
          </a:xfrm>
          <a:prstGeom prst="ellipse">
            <a:avLst/>
          </a:prstGeom>
          <a:solidFill>
            <a:srgbClr val="1B243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88950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426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Dataset Preparation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00200" y="302666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human-written Bangla text; generate matching AI-written text via LLM APIs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30168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4F6FB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822192"/>
            <a:ext cx="548640" cy="548640"/>
          </a:xfrm>
          <a:prstGeom prst="ellipse">
            <a:avLst/>
          </a:prstGeom>
          <a:solidFill>
            <a:srgbClr val="1B243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95020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03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Development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0873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BanglaBERT/XLM-R classifier to distinguish human vs. AI-generated text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69087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4F6FB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882896"/>
            <a:ext cx="548640" cy="548640"/>
          </a:xfrm>
          <a:prstGeom prst="ellipse">
            <a:avLst/>
          </a:prstGeom>
          <a:solidFill>
            <a:srgbClr val="1B243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01091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7640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Explainability &amp; Evaluation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00200" y="514807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SHAP/attention analysis; benchmark across multiple LLM generators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75157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4F6FB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943600"/>
            <a:ext cx="548640" cy="548640"/>
          </a:xfrm>
          <a:prstGeom prst="ellipse">
            <a:avLst/>
          </a:prstGeom>
          <a:solidFill>
            <a:srgbClr val="1B243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607161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824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Paper Writing &amp; Submission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00200" y="620877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format to IEEE template, submit to ICCIT 2026 by 31 July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now write fluent Bangla — and there is almost no way to tell it apart from human writing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2942" y="1485900"/>
            <a:ext cx="3931920" cy="15544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9050">
            <a:solidFill>
              <a:srgbClr val="1E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9733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Human-written Bangla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63090"/>
            <a:ext cx="3611880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as-IN" sz="1400" dirty="0">
                <a:latin typeface="Calibri" panose="020F0502020204030204" pitchFamily="34" charset="0"/>
                <a:ea typeface="Calibri" panose="020F0502020204030204" pitchFamily="34" charset="0"/>
              </a:rPr>
              <a:t>"আজ সকালে পার্কে হাঁটতে বেরিয়েছিলাম। আবহাওয়াটা খুবই সুন্দর ছিল, তাই অনেকক্ষণ হাঁটলাম। পরে এক কাপ চা খেয়ে বাসায় ফিরে এলাম।"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992880" cy="16687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Bangla (LLM)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as-IN" sz="1400" dirty="0"/>
              <a:t>"আজ সকালে পার্কে হাঁটতে বেরিয়ে অত্যন্ত মনোরম অনুভূতি হচ্ছিল। সুন্দর পরিবেশে দীর্ঘক্ষণ হাঁটার পর এক কাপ চা পান করে বাসায় ফিরে আসি।"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822960" cy="868680"/>
          </a:xfrm>
          <a:prstGeom prst="line">
            <a:avLst/>
          </a:prstGeom>
          <a:noFill/>
          <a:ln w="25400">
            <a:solidFill>
              <a:srgbClr val="8B95A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0" y="3886200"/>
            <a:ext cx="822960" cy="0"/>
          </a:xfrm>
          <a:prstGeom prst="line">
            <a:avLst/>
          </a:prstGeom>
          <a:noFill/>
          <a:ln w="25400">
            <a:solidFill>
              <a:srgbClr val="8B95A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40680" y="2651760"/>
            <a:ext cx="914400" cy="914400"/>
          </a:xfrm>
          <a:prstGeom prst="ellipse">
            <a:avLst/>
          </a:prstGeom>
          <a:solidFill>
            <a:srgbClr val="1B2437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73040" y="3611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indistinguishable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human reader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55080" y="3108960"/>
            <a:ext cx="640080" cy="0"/>
          </a:xfrm>
          <a:prstGeom prst="line">
            <a:avLst/>
          </a:prstGeom>
          <a:noFill/>
          <a:ln w="25400">
            <a:solidFill>
              <a:srgbClr val="8B95A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40880" y="2377440"/>
            <a:ext cx="4480560" cy="1463040"/>
          </a:xfrm>
          <a:prstGeom prst="roundRect">
            <a:avLst>
              <a:gd name="adj" fmla="val 5625"/>
            </a:avLst>
          </a:prstGeom>
          <a:solidFill>
            <a:srgbClr val="1B2437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56032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818120" y="2514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269480" y="3108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Classifies the text and highlights the linguistic patterns that influenced the prediction</a:t>
            </a:r>
          </a:p>
        </p:txBody>
      </p:sp>
      <p:sp>
        <p:nvSpPr>
          <p:cNvPr id="20" name="Shape 17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B2437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5780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417320" y="51663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400" dirty="0">
                <a:solidFill>
                  <a:schemeClr val="bg1"/>
                </a:solidFill>
              </a:rPr>
              <a:t>While AI-generated text detection has advanced significantly for English, </a:t>
            </a:r>
            <a:r>
              <a:rPr lang="en-US" sz="1400" b="1" dirty="0">
                <a:solidFill>
                  <a:schemeClr val="bg1"/>
                </a:solidFill>
              </a:rPr>
              <a:t>research on explainable AI-generated Bengali text detection remains limited</a:t>
            </a:r>
            <a:r>
              <a:rPr lang="en-US" sz="1400" dirty="0">
                <a:solidFill>
                  <a:schemeClr val="bg1"/>
                </a:solidFill>
              </a:rPr>
              <a:t>. The absence of benchmark datasets and explainable detection frameworks creates challenges in identifying AI-generated misinformation, academic dishonesty, and bot-generated content in Bangla.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Work Unique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against existing AI-text detection research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EF0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B9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almost entirely on English text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9077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left largely unexamined by prior work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5295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5295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often black-box — just a label, no reasoning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15137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41513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tested across multiple LLM generators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7731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7731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/>
              <a:t>Limited publicly available benchmark datasets for Bengali AI-generated text detection</a:t>
            </a:r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B243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22860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Dedicated Bengali AI-vs-human text detector + benchmark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29077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29077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Self-generated parallel dataset — no external access needed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35295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12280" y="35295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layer explains WHY a text is flagged as AI-written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0" y="415137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12280" y="41513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across multiple LLM generators for generalizability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47731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47731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real-world use: academic integrity, misinformation checks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2A365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real-world impact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2A3652"/>
          </a:solidFill>
          <a:ln/>
        </p:spPr>
      </p:sp>
      <p:sp>
        <p:nvSpPr>
          <p:cNvPr id="6" name="Shape 4"/>
          <p:cNvSpPr/>
          <p:nvPr/>
        </p:nvSpPr>
        <p:spPr>
          <a:xfrm>
            <a:off x="1851660" y="1920240"/>
            <a:ext cx="822960" cy="822960"/>
          </a:xfrm>
          <a:prstGeom prst="ellipse">
            <a:avLst/>
          </a:prstGeom>
          <a:solidFill>
            <a:srgbClr val="C99A3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21214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Bangla-medium institutions have no reliable way to flag AI-written assignments or theses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6002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2A3652"/>
          </a:solidFill>
          <a:ln/>
        </p:spPr>
      </p:sp>
      <p:sp>
        <p:nvSpPr>
          <p:cNvPr id="11" name="Shape 8"/>
          <p:cNvSpPr/>
          <p:nvPr/>
        </p:nvSpPr>
        <p:spPr>
          <a:xfrm>
            <a:off x="5600700" y="1920240"/>
            <a:ext cx="822960" cy="822960"/>
          </a:xfrm>
          <a:prstGeom prst="ellipse">
            <a:avLst/>
          </a:prstGeom>
          <a:solidFill>
            <a:srgbClr val="C99A3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212140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Demand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alone isn't enough — teachers, editors, and platforms need to see the reasoning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16002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2A3652"/>
          </a:solidFill>
          <a:ln/>
        </p:spPr>
      </p:sp>
      <p:sp>
        <p:nvSpPr>
          <p:cNvPr id="16" name="Shape 12"/>
          <p:cNvSpPr/>
          <p:nvPr/>
        </p:nvSpPr>
        <p:spPr>
          <a:xfrm>
            <a:off x="9349740" y="1920240"/>
            <a:ext cx="822960" cy="822960"/>
          </a:xfrm>
          <a:prstGeom prst="ellipse">
            <a:avLst/>
          </a:prstGeom>
          <a:solidFill>
            <a:srgbClr val="C99A3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908" y="212140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Emerging Research Opportunity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9" name="Text 14"/>
          <p:cNvSpPr/>
          <p:nvPr/>
        </p:nvSpPr>
        <p:spPr>
          <a:xfrm>
            <a:off x="832104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Limited research on explainable Bengali AI-text detection creates opportunities for developing robust and practical solutions.</a:t>
            </a:r>
          </a:p>
        </p:txBody>
      </p:sp>
      <p:sp>
        <p:nvSpPr>
          <p:cNvPr id="20" name="Shape 15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12700">
            <a:solidFill>
              <a:srgbClr val="2A365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The increasing use of generative AI in Bengali content creation highlights the need for explainable and reliable detection systems that support education, media, and digital platforms.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480</Words>
  <Application>Microsoft Office PowerPoint</Application>
  <PresentationFormat>Widescreen</PresentationFormat>
  <Paragraphs>68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Vrinda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Detection of AI-Generated Bengali Text</dc:title>
  <dc:subject>PptxGenJS Presentation</dc:subject>
  <dc:creator>Md Miraj Hossan Sajid</dc:creator>
  <cp:lastModifiedBy>MY PC</cp:lastModifiedBy>
  <cp:revision>4</cp:revision>
  <dcterms:created xsi:type="dcterms:W3CDTF">2026-07-06T11:58:14Z</dcterms:created>
  <dcterms:modified xsi:type="dcterms:W3CDTF">2026-07-06T12:36:30Z</dcterms:modified>
</cp:coreProperties>
</file>